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2" y="5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Video 17" descr="Computer Servers">
            <a:extLst>
              <a:ext uri="{FF2B5EF4-FFF2-40B4-BE49-F238E27FC236}">
                <a16:creationId xmlns:a16="http://schemas.microsoft.com/office/drawing/2014/main" id="{9D5FE0B3-6107-1E19-F01A-BAA24B8384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206190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6" y="728897"/>
            <a:ext cx="5452529" cy="3728614"/>
          </a:xfrm>
        </p:spPr>
        <p:txBody>
          <a:bodyPr anchor="t">
            <a:normAutofit/>
          </a:bodyPr>
          <a:lstStyle/>
          <a:p>
            <a:pPr algn="r">
              <a:defRPr sz="3400"/>
            </a:pPr>
            <a:r>
              <a:rPr lang="en-US" sz="5200">
                <a:solidFill>
                  <a:srgbClr val="FFFFFF"/>
                </a:solidFill>
              </a:rPr>
              <a:t>Fundamentals of Database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9055" y="4629217"/>
            <a:ext cx="5449479" cy="1499873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Biomedical Research Database System</a:t>
            </a:r>
          </a:p>
          <a:p>
            <a:pPr algn="r"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Prepared by: Menatalla Ahmed Osman &amp; Hana Hisham Saad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D82C2AD1-4C34-4EA4-63B2-5083CE633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20" t="6640" r="1" b="245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pPr>
              <a:defRPr sz="3000"/>
            </a:pPr>
            <a:r>
              <a:rPr lang="en-US" sz="280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/>
          </a:bodyPr>
          <a:lstStyle/>
          <a:p>
            <a:pPr>
              <a:defRPr sz="2200"/>
            </a:pPr>
            <a:r>
              <a:rPr lang="en-US" sz="1700">
                <a:solidFill>
                  <a:schemeClr val="bg1"/>
                </a:solidFill>
              </a:rPr>
              <a:t>The project designs a biomedical research database.</a:t>
            </a:r>
          </a:p>
          <a:p>
            <a:pPr>
              <a:defRPr sz="2200"/>
            </a:pPr>
            <a:r>
              <a:rPr lang="en-US" sz="1700">
                <a:solidFill>
                  <a:schemeClr val="bg1"/>
                </a:solidFill>
              </a:rPr>
              <a:t>It stores authors, research papers, journals, publishers, and biomedical fields.</a:t>
            </a:r>
          </a:p>
          <a:p>
            <a:pPr>
              <a:defRPr sz="2200"/>
            </a:pPr>
            <a:r>
              <a:rPr lang="en-US" sz="1700">
                <a:solidFill>
                  <a:schemeClr val="bg1"/>
                </a:solidFill>
              </a:rPr>
              <a:t>The goal is to organize scientific information in a structured way.</a:t>
            </a:r>
          </a:p>
          <a:p>
            <a:pPr>
              <a:defRPr sz="2200"/>
            </a:pPr>
            <a:r>
              <a:rPr lang="en-US" sz="1700">
                <a:solidFill>
                  <a:schemeClr val="bg1"/>
                </a:solidFill>
              </a:rPr>
              <a:t>SQL is used to create tables, insert data, and run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conceptual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6" y="0"/>
            <a:ext cx="5503545" cy="6858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527800" y="1909192"/>
            <a:ext cx="4713997" cy="364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 b="1"/>
            </a:pPr>
            <a:r>
              <a:rPr lang="en-US" sz="2000">
                <a:solidFill>
                  <a:schemeClr val="bg1"/>
                </a:solidFill>
              </a:rPr>
              <a:t>Conceptual Design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Main entities: Author, Research, Journal, Publisher, BiomedicalField.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Each entity has its own attributes.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Relationships show how the entities connect.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Many-to-many relationships are handled with junction tables.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527800" y="1909192"/>
            <a:ext cx="4713997" cy="364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 b="1"/>
            </a:pPr>
            <a:r>
              <a:rPr lang="en-US" sz="2000">
                <a:solidFill>
                  <a:schemeClr val="bg1"/>
                </a:solidFill>
              </a:rPr>
              <a:t>ER Diagram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The ER diagram shows the relationships between the entities.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Primary keys uniquely identify each record.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Foreign keys connect the tables together.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It also shows participation and cardinality constraints.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28160AC-E625-455D-2EB4-A7EBFAE88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18" y="1175174"/>
            <a:ext cx="6001946" cy="45076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relational_schema.png"/>
          <p:cNvPicPr>
            <a:picLocks noChangeAspect="1"/>
          </p:cNvPicPr>
          <p:nvPr/>
        </p:nvPicPr>
        <p:blipFill>
          <a:blip r:embed="rId2"/>
          <a:srcRect t="13761"/>
          <a:stretch>
            <a:fillRect/>
          </a:stretch>
        </p:blipFill>
        <p:spPr>
          <a:xfrm>
            <a:off x="-2346" y="671681"/>
            <a:ext cx="6366201" cy="496858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527800" y="1909192"/>
            <a:ext cx="4713997" cy="364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 b="1"/>
            </a:pPr>
            <a:r>
              <a:rPr lang="en-US" sz="2000">
                <a:solidFill>
                  <a:schemeClr val="bg1"/>
                </a:solidFill>
              </a:rPr>
              <a:t>Relational Schema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The ER model is converted into tables.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Primary keys keep each row unique.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Foreign keys enforce referential integrity.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Junction tables store many-to-many relationships.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7800" y="448721"/>
            <a:ext cx="4713997" cy="1225650"/>
          </a:xfrm>
        </p:spPr>
        <p:txBody>
          <a:bodyPr anchor="b">
            <a:normAutofit/>
          </a:bodyPr>
          <a:lstStyle/>
          <a:p>
            <a:pPr>
              <a:defRPr sz="3000"/>
            </a:pPr>
            <a:r>
              <a:rPr lang="en-US" sz="3800">
                <a:solidFill>
                  <a:schemeClr val="bg1"/>
                </a:solidFill>
              </a:rPr>
              <a:t>DDL Operations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8327CB12-476A-D53E-FBEC-B2E5CEC6C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346" y="595726"/>
            <a:ext cx="5666547" cy="56665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7800" y="1909192"/>
            <a:ext cx="4713997" cy="3647710"/>
          </a:xfrm>
        </p:spPr>
        <p:txBody>
          <a:bodyPr>
            <a:normAutofit/>
          </a:bodyPr>
          <a:lstStyle/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CREATE DATABASE builds the biomedical database.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CREATE TABLE defines structure, data types, and constraints.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PRIMARY KEY, FOREIGN KEY, UNIQUE, and NOT NULL protect the data.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Different data types are used for text, numbers, dates, and yes/no values.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7800" y="448721"/>
            <a:ext cx="4713997" cy="1225650"/>
          </a:xfrm>
        </p:spPr>
        <p:txBody>
          <a:bodyPr anchor="b">
            <a:normAutofit/>
          </a:bodyPr>
          <a:lstStyle/>
          <a:p>
            <a:pPr>
              <a:defRPr sz="3000"/>
            </a:pPr>
            <a:r>
              <a:rPr lang="en-US" sz="3800">
                <a:solidFill>
                  <a:schemeClr val="bg1"/>
                </a:solidFill>
              </a:rPr>
              <a:t>DML Operations</a:t>
            </a:r>
          </a:p>
        </p:txBody>
      </p:sp>
      <p:pic>
        <p:nvPicPr>
          <p:cNvPr id="16" name="Picture 15" descr="Different colored organizers">
            <a:extLst>
              <a:ext uri="{FF2B5EF4-FFF2-40B4-BE49-F238E27FC236}">
                <a16:creationId xmlns:a16="http://schemas.microsoft.com/office/drawing/2014/main" id="{C059C26E-E6C2-5280-6233-9EF315254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6" y="1714870"/>
            <a:ext cx="5666547" cy="342826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7800" y="1909192"/>
            <a:ext cx="4713997" cy="3647710"/>
          </a:xfrm>
        </p:spPr>
        <p:txBody>
          <a:bodyPr>
            <a:normAutofit/>
          </a:bodyPr>
          <a:lstStyle/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INSERT statements add sample records into each table.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SELECT retrieves information from the database.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UPDATE changes existing data when needed.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JOIN combines related tables into one result.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00838" y="707132"/>
            <a:ext cx="306228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5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Queries and Views</a:t>
            </a:r>
          </a:p>
        </p:txBody>
      </p:sp>
      <p:pic>
        <p:nvPicPr>
          <p:cNvPr id="4" name="Picture 3" descr="test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" y="607589"/>
            <a:ext cx="6167018" cy="564282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209925"/>
            <a:ext cx="976312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7800" y="448721"/>
            <a:ext cx="4713997" cy="1225650"/>
          </a:xfrm>
        </p:spPr>
        <p:txBody>
          <a:bodyPr anchor="b">
            <a:normAutofit/>
          </a:bodyPr>
          <a:lstStyle/>
          <a:p>
            <a:pPr>
              <a:defRPr sz="3000"/>
            </a:pPr>
            <a:r>
              <a:rPr lang="en-US" sz="3800">
                <a:solidFill>
                  <a:schemeClr val="bg1"/>
                </a:solidFill>
              </a:rPr>
              <a:t>Design Rationale</a:t>
            </a:r>
          </a:p>
        </p:txBody>
      </p:sp>
      <p:pic>
        <p:nvPicPr>
          <p:cNvPr id="5" name="Picture 4" descr="Chairs in a circle">
            <a:extLst>
              <a:ext uri="{FF2B5EF4-FFF2-40B4-BE49-F238E27FC236}">
                <a16:creationId xmlns:a16="http://schemas.microsoft.com/office/drawing/2014/main" id="{87E0946B-0DD8-4D03-9E78-A88E85428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6" y="999468"/>
            <a:ext cx="5666547" cy="485906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7800" y="1909192"/>
            <a:ext cx="4713997" cy="3647710"/>
          </a:xfrm>
        </p:spPr>
        <p:txBody>
          <a:bodyPr>
            <a:normAutofit/>
          </a:bodyPr>
          <a:lstStyle/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Normalization reduces redundancy.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Junction tables make the design scalable.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Separate tables make the database flexible.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Constraints improve consistency and accuracy.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7800" y="448721"/>
            <a:ext cx="4713997" cy="1225650"/>
          </a:xfrm>
        </p:spPr>
        <p:txBody>
          <a:bodyPr anchor="b">
            <a:normAutofit/>
          </a:bodyPr>
          <a:lstStyle/>
          <a:p>
            <a:pPr>
              <a:defRPr sz="3000"/>
            </a:pPr>
            <a:r>
              <a:rPr lang="en-US" sz="3800">
                <a:solidFill>
                  <a:schemeClr val="bg1"/>
                </a:solidFill>
              </a:rPr>
              <a:t>Conclusion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DB1A04F3-DF50-BB99-A53A-686524D84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6" y="1842367"/>
            <a:ext cx="5666547" cy="317326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7800" y="1909192"/>
            <a:ext cx="4713997" cy="3647710"/>
          </a:xfrm>
        </p:spPr>
        <p:txBody>
          <a:bodyPr>
            <a:normAutofit/>
          </a:bodyPr>
          <a:lstStyle/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The database organizes biomedical research data clearly.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SQL was used to build and test the system.</a:t>
            </a:r>
          </a:p>
          <a:p>
            <a:pPr>
              <a:defRPr sz="2100"/>
            </a:pPr>
            <a:r>
              <a:rPr lang="en-US" sz="2000">
                <a:solidFill>
                  <a:schemeClr val="bg1"/>
                </a:solidFill>
              </a:rPr>
              <a:t>The design supports consistency, scalability, and future expansion.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313</Words>
  <Application>Microsoft Office PowerPoint</Application>
  <PresentationFormat>Widescreen</PresentationFormat>
  <Paragraphs>43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Fundamentals of Database</vt:lpstr>
      <vt:lpstr>Project Overview</vt:lpstr>
      <vt:lpstr>PowerPoint Presentation</vt:lpstr>
      <vt:lpstr>PowerPoint Presentation</vt:lpstr>
      <vt:lpstr>PowerPoint Presentation</vt:lpstr>
      <vt:lpstr>DDL Operations</vt:lpstr>
      <vt:lpstr>DML Operations</vt:lpstr>
      <vt:lpstr>PowerPoint Presentation</vt:lpstr>
      <vt:lpstr>Design Rationale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Menatalla osman</cp:lastModifiedBy>
  <cp:revision>2</cp:revision>
  <dcterms:created xsi:type="dcterms:W3CDTF">2013-01-27T09:14:16Z</dcterms:created>
  <dcterms:modified xsi:type="dcterms:W3CDTF">2026-05-27T17:49:06Z</dcterms:modified>
  <cp:category/>
</cp:coreProperties>
</file>